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  <a:t>Name – Aditya </a:t>
            </a:r>
            <a:r>
              <a:rPr lang="en-US" sz="3200" dirty="0" err="1">
                <a:solidFill>
                  <a:schemeClr val="bg1"/>
                </a:solidFill>
                <a:latin typeface="Rockwell" panose="02060603020205020403" pitchFamily="18" charset="0"/>
              </a:rPr>
              <a:t>kohli</a:t>
            </a:r>
            <a:b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  <a:t>1CSE26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741" y="3602038"/>
            <a:ext cx="9631214" cy="213359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Topic -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Decline of pollinators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Rockwell" panose="02060603020205020403" pitchFamily="18" charset="0"/>
              </a:rPr>
              <a:t>Unit 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779D3A-EB1D-37A6-2FD6-0B2E28CB7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4182504"/>
              </p:ext>
            </p:extLst>
          </p:nvPr>
        </p:nvGraphicFramePr>
        <p:xfrm>
          <a:off x="1331118" y="1860886"/>
          <a:ext cx="9526587" cy="438620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7042138">
                  <a:extLst>
                    <a:ext uri="{9D8B030D-6E8A-4147-A177-3AD203B41FA5}">
                      <a16:colId xmlns:a16="http://schemas.microsoft.com/office/drawing/2014/main" val="2035841304"/>
                    </a:ext>
                  </a:extLst>
                </a:gridCol>
                <a:gridCol w="2484449">
                  <a:extLst>
                    <a:ext uri="{9D8B030D-6E8A-4147-A177-3AD203B41FA5}">
                      <a16:colId xmlns:a16="http://schemas.microsoft.com/office/drawing/2014/main" val="2399814868"/>
                    </a:ext>
                  </a:extLst>
                </a:gridCol>
              </a:tblGrid>
              <a:tr h="657725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Introduction: Meaning of Artificial Intelligence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936017"/>
                  </a:ext>
                </a:extLst>
              </a:tr>
              <a:tr h="708767">
                <a:tc>
                  <a:txBody>
                    <a:bodyPr/>
                    <a:lstStyle/>
                    <a:p>
                      <a:r>
                        <a:rPr lang="en-US" b="1" dirty="0"/>
                        <a:t>Foundations of AI: Mathematics,</a:t>
                      </a:r>
                      <a:endParaRPr lang="en-IN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278162"/>
                  </a:ext>
                </a:extLst>
              </a:tr>
              <a:tr h="754929">
                <a:tc>
                  <a:txBody>
                    <a:bodyPr/>
                    <a:lstStyle/>
                    <a:p>
                      <a:r>
                        <a:rPr lang="en-US" b="1" dirty="0"/>
                        <a:t>Foundations of AI: Neuroscience, Psychology, Philosophy, Economics </a:t>
                      </a:r>
                      <a:endParaRPr lang="en-IN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39830106"/>
                  </a:ext>
                </a:extLst>
              </a:tr>
              <a:tr h="754929">
                <a:tc>
                  <a:txBody>
                    <a:bodyPr/>
                    <a:lstStyle/>
                    <a:p>
                      <a:r>
                        <a:rPr lang="en-US" b="1" dirty="0"/>
                        <a:t>Foundations of AI: Computer Engineering, Control Theory</a:t>
                      </a:r>
                      <a:endParaRPr lang="en-IN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52216323"/>
                  </a:ext>
                </a:extLst>
              </a:tr>
              <a:tr h="754929">
                <a:tc>
                  <a:txBody>
                    <a:bodyPr/>
                    <a:lstStyle/>
                    <a:p>
                      <a:r>
                        <a:rPr lang="en-IN" b="1" dirty="0"/>
                        <a:t>Foundations of AI: Linguistics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57371080"/>
                  </a:ext>
                </a:extLst>
              </a:tr>
              <a:tr h="754929">
                <a:tc>
                  <a:txBody>
                    <a:bodyPr/>
                    <a:lstStyle/>
                    <a:p>
                      <a:r>
                        <a:rPr lang="en-US" b="1" dirty="0"/>
                        <a:t>History of AI, Risks and Benefits of AI</a:t>
                      </a:r>
                      <a:endParaRPr lang="en-IN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72667304"/>
                  </a:ext>
                </a:extLst>
              </a:tr>
            </a:tbl>
          </a:graphicData>
        </a:graphic>
      </p:graphicFrame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91840343-607D-666C-A942-73AD4AE3B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4678" y="4836226"/>
            <a:ext cx="457200" cy="457200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4F5E39EE-C817-BBE7-5B3E-C778002B2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4678" y="5686010"/>
            <a:ext cx="457200" cy="45720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FB0D5F8-9F20-2CF1-6C55-5AE1075A6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4678" y="2650498"/>
            <a:ext cx="585539" cy="480702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A666AC57-423A-0054-E2DA-9E69BB8689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8691" y="4153038"/>
            <a:ext cx="585539" cy="480702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D6C6D39C-8956-DA99-97A6-19E22953E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8692" y="3387432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0071-05E4-CCED-87DF-D8DBC5672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63BE1-106E-C69F-67B7-F660D108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Rockwell" panose="02060603020205020403" pitchFamily="18" charset="0"/>
              </a:rPr>
              <a:t>Unit 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3C07A6-16D1-A371-C322-0EBD38E7C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7631716"/>
              </p:ext>
            </p:extLst>
          </p:nvPr>
        </p:nvGraphicFramePr>
        <p:xfrm>
          <a:off x="1141413" y="1844840"/>
          <a:ext cx="9542629" cy="439464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040371">
                  <a:extLst>
                    <a:ext uri="{9D8B030D-6E8A-4147-A177-3AD203B41FA5}">
                      <a16:colId xmlns:a16="http://schemas.microsoft.com/office/drawing/2014/main" val="2035841304"/>
                    </a:ext>
                  </a:extLst>
                </a:gridCol>
                <a:gridCol w="2502258">
                  <a:extLst>
                    <a:ext uri="{9D8B030D-6E8A-4147-A177-3AD203B41FA5}">
                      <a16:colId xmlns:a16="http://schemas.microsoft.com/office/drawing/2014/main" val="2399814868"/>
                    </a:ext>
                  </a:extLst>
                </a:gridCol>
              </a:tblGrid>
              <a:tr h="652494">
                <a:tc>
                  <a:txBody>
                    <a:bodyPr/>
                    <a:lstStyle/>
                    <a:p>
                      <a:r>
                        <a:rPr lang="en-IN" dirty="0"/>
                        <a:t>Intelligent Agents: Agents and Environment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936017"/>
                  </a:ext>
                </a:extLst>
              </a:tr>
              <a:tr h="711364">
                <a:tc>
                  <a:txBody>
                    <a:bodyPr/>
                    <a:lstStyle/>
                    <a:p>
                      <a:r>
                        <a:rPr lang="en-US" b="1" dirty="0"/>
                        <a:t>Nature of Environment and Agents</a:t>
                      </a:r>
                      <a:endParaRPr lang="en-IN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8162"/>
                  </a:ext>
                </a:extLst>
              </a:tr>
              <a:tr h="757696">
                <a:tc>
                  <a:txBody>
                    <a:bodyPr/>
                    <a:lstStyle/>
                    <a:p>
                      <a:r>
                        <a:rPr lang="en-IN" b="1" dirty="0"/>
                        <a:t>Problem Solving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830106"/>
                  </a:ext>
                </a:extLst>
              </a:tr>
              <a:tr h="757696">
                <a:tc>
                  <a:txBody>
                    <a:bodyPr/>
                    <a:lstStyle/>
                    <a:p>
                      <a:r>
                        <a:rPr lang="en-IN" b="1" dirty="0"/>
                        <a:t>Search Problems and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216323"/>
                  </a:ext>
                </a:extLst>
              </a:tr>
              <a:tr h="757696">
                <a:tc>
                  <a:txBody>
                    <a:bodyPr/>
                    <a:lstStyle/>
                    <a:p>
                      <a:r>
                        <a:rPr lang="en-IN" b="1" dirty="0"/>
                        <a:t>Formulating Problems, Example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371080"/>
                  </a:ext>
                </a:extLst>
              </a:tr>
              <a:tr h="757696">
                <a:tc>
                  <a:txBody>
                    <a:bodyPr/>
                    <a:lstStyle/>
                    <a:p>
                      <a:r>
                        <a:rPr lang="en-IN" b="1" dirty="0"/>
                        <a:t>Search Algorithms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667304"/>
                  </a:ext>
                </a:extLst>
              </a:tr>
            </a:tbl>
          </a:graphicData>
        </a:graphic>
      </p:graphicFrame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48778A30-F5D6-6BA5-067D-846A26168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5920" y="4098443"/>
            <a:ext cx="457200" cy="4572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EF24C4BD-E59E-388A-04C9-C10AFE4DAF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5920" y="1940071"/>
            <a:ext cx="585539" cy="480702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3CB3C573-8C76-AC18-6A3C-02D709D0F9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5921" y="2593381"/>
            <a:ext cx="585539" cy="480702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ADD73794-C9F0-2C63-886D-96891239A9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5922" y="3375273"/>
            <a:ext cx="585539" cy="480702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E837D21A-4D3F-4270-1B10-235127106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5923" y="4880335"/>
            <a:ext cx="585539" cy="480702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E82CD1B4-FBC1-49A8-1627-562BAC651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5920" y="562873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1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6D842-A37D-1887-3B08-69710709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FFA7C-9FDE-50B1-6F06-0BF3E3A5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Rockwell" panose="02060603020205020403" pitchFamily="18" charset="0"/>
              </a:rPr>
              <a:t>Unit 3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2F32DB-BFD3-5373-FB3F-7FF0B8DF5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764902"/>
              </p:ext>
            </p:extLst>
          </p:nvPr>
        </p:nvGraphicFramePr>
        <p:xfrm>
          <a:off x="1141413" y="1844843"/>
          <a:ext cx="9542629" cy="439173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040371">
                  <a:extLst>
                    <a:ext uri="{9D8B030D-6E8A-4147-A177-3AD203B41FA5}">
                      <a16:colId xmlns:a16="http://schemas.microsoft.com/office/drawing/2014/main" val="2035841304"/>
                    </a:ext>
                  </a:extLst>
                </a:gridCol>
                <a:gridCol w="2502258">
                  <a:extLst>
                    <a:ext uri="{9D8B030D-6E8A-4147-A177-3AD203B41FA5}">
                      <a16:colId xmlns:a16="http://schemas.microsoft.com/office/drawing/2014/main" val="2399814868"/>
                    </a:ext>
                  </a:extLst>
                </a:gridCol>
              </a:tblGrid>
              <a:tr h="649566">
                <a:tc>
                  <a:txBody>
                    <a:bodyPr/>
                    <a:lstStyle/>
                    <a:p>
                      <a:r>
                        <a:rPr lang="en-US" dirty="0"/>
                        <a:t>Knowledge Representation: Logical Representation, Propositional Logic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936017"/>
                  </a:ext>
                </a:extLst>
              </a:tr>
              <a:tr h="711369">
                <a:tc>
                  <a:txBody>
                    <a:bodyPr/>
                    <a:lstStyle/>
                    <a:p>
                      <a:pPr algn="l"/>
                      <a:r>
                        <a:rPr lang="en-IN" b="1" dirty="0"/>
                        <a:t>First-order Logic, Resolution Method</a:t>
                      </a:r>
                      <a:endParaRPr lang="en-IN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8162"/>
                  </a:ext>
                </a:extLst>
              </a:tr>
              <a:tr h="757701">
                <a:tc>
                  <a:txBody>
                    <a:bodyPr/>
                    <a:lstStyle/>
                    <a:p>
                      <a:r>
                        <a:rPr lang="en-IN" b="1" dirty="0"/>
                        <a:t>Frames, Semantic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830106"/>
                  </a:ext>
                </a:extLst>
              </a:tr>
              <a:tr h="757701">
                <a:tc>
                  <a:txBody>
                    <a:bodyPr/>
                    <a:lstStyle/>
                    <a:p>
                      <a:r>
                        <a:rPr lang="en-IN" b="1" dirty="0"/>
                        <a:t>Production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216323"/>
                  </a:ext>
                </a:extLst>
              </a:tr>
              <a:tr h="757701">
                <a:tc>
                  <a:txBody>
                    <a:bodyPr/>
                    <a:lstStyle/>
                    <a:p>
                      <a:r>
                        <a:rPr lang="en-IN" b="1" dirty="0"/>
                        <a:t>Applications of AI: Intelligent Automation, Predictive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371080"/>
                  </a:ext>
                </a:extLst>
              </a:tr>
              <a:tr h="757701">
                <a:tc>
                  <a:txBody>
                    <a:bodyPr/>
                    <a:lstStyle/>
                    <a:p>
                      <a:r>
                        <a:rPr lang="en-US" b="1" dirty="0"/>
                        <a:t>Applications of AI: Design Optimization, Personalized Solutions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667304"/>
                  </a:ext>
                </a:extLst>
              </a:tr>
            </a:tbl>
          </a:graphicData>
        </a:graphic>
      </p:graphicFrame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EC07641B-EBC3-6E1A-61AE-488A6F465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5923" y="5559909"/>
            <a:ext cx="585539" cy="480702"/>
          </a:xfrm>
          <a:prstGeom prst="rect">
            <a:avLst/>
          </a:prstGeom>
        </p:spPr>
      </p:pic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F7C203DC-837F-FC9C-9F6D-4CFB58956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5921" y="4108915"/>
            <a:ext cx="585539" cy="480702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4D90C16C-7350-3596-2562-06003BE07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5921" y="4883236"/>
            <a:ext cx="585539" cy="480702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EFA91796-B9ED-1930-EBCF-96E7D0A3C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5922" y="3323413"/>
            <a:ext cx="585539" cy="480702"/>
          </a:xfrm>
          <a:prstGeom prst="rect">
            <a:avLst/>
          </a:prstGeom>
        </p:spPr>
      </p:pic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6C5147A2-152E-3E43-3B3B-77980C0B4B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5921" y="1901709"/>
            <a:ext cx="457200" cy="457200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D1672D55-8547-ABF1-D856-5F3EA11CD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5921" y="264983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098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BF09-8365-FC7E-9D2E-7251F9D1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377DF-D675-3879-0D89-1C3E77CC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Rockwell" panose="02060603020205020403" pitchFamily="18" charset="0"/>
              </a:rPr>
              <a:t>Unit 4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B7F194-257B-EB5A-957A-24075B86B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753938"/>
              </p:ext>
            </p:extLst>
          </p:nvPr>
        </p:nvGraphicFramePr>
        <p:xfrm>
          <a:off x="1141413" y="1844843"/>
          <a:ext cx="9542629" cy="444802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7040371">
                  <a:extLst>
                    <a:ext uri="{9D8B030D-6E8A-4147-A177-3AD203B41FA5}">
                      <a16:colId xmlns:a16="http://schemas.microsoft.com/office/drawing/2014/main" val="2035841304"/>
                    </a:ext>
                  </a:extLst>
                </a:gridCol>
                <a:gridCol w="1251129">
                  <a:extLst>
                    <a:ext uri="{9D8B030D-6E8A-4147-A177-3AD203B41FA5}">
                      <a16:colId xmlns:a16="http://schemas.microsoft.com/office/drawing/2014/main" val="2399814868"/>
                    </a:ext>
                  </a:extLst>
                </a:gridCol>
                <a:gridCol w="1251129">
                  <a:extLst>
                    <a:ext uri="{9D8B030D-6E8A-4147-A177-3AD203B41FA5}">
                      <a16:colId xmlns:a16="http://schemas.microsoft.com/office/drawing/2014/main" val="2208716167"/>
                    </a:ext>
                  </a:extLst>
                </a:gridCol>
              </a:tblGrid>
              <a:tr h="705852">
                <a:tc gridSpan="3"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Introduction to Machine Learning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936017"/>
                  </a:ext>
                </a:extLst>
              </a:tr>
              <a:tr h="711369">
                <a:tc>
                  <a:txBody>
                    <a:bodyPr/>
                    <a:lstStyle/>
                    <a:p>
                      <a:pPr algn="l"/>
                      <a:r>
                        <a:rPr lang="en-IN" b="1" dirty="0"/>
                        <a:t>Problem Types: Regression &amp; Classification</a:t>
                      </a:r>
                      <a:endParaRPr lang="en-IN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278162"/>
                  </a:ext>
                </a:extLst>
              </a:tr>
              <a:tr h="757701">
                <a:tc>
                  <a:txBody>
                    <a:bodyPr/>
                    <a:lstStyle/>
                    <a:p>
                      <a:r>
                        <a:rPr lang="en-US" b="1" dirty="0"/>
                        <a:t>Types of Data, Feature Vectors &amp; Target Variables</a:t>
                      </a:r>
                      <a:endParaRPr lang="en-IN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830106"/>
                  </a:ext>
                </a:extLst>
              </a:tr>
              <a:tr h="757701">
                <a:tc>
                  <a:txBody>
                    <a:bodyPr/>
                    <a:lstStyle/>
                    <a:p>
                      <a:r>
                        <a:rPr lang="en-US" b="1" dirty="0"/>
                        <a:t>Types of ML: Supervised, </a:t>
                      </a:r>
                      <a:endParaRPr lang="en-IN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216323"/>
                  </a:ext>
                </a:extLst>
              </a:tr>
              <a:tr h="757701">
                <a:tc>
                  <a:txBody>
                    <a:bodyPr/>
                    <a:lstStyle/>
                    <a:p>
                      <a:r>
                        <a:rPr lang="en-IN" b="1" dirty="0"/>
                        <a:t>Semi-supervised, Reinforcement Learning, </a:t>
                      </a:r>
                      <a:r>
                        <a:rPr lang="en-US" b="1" dirty="0"/>
                        <a:t>Unsupervised</a:t>
                      </a:r>
                      <a:endParaRPr lang="en-IN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371080"/>
                  </a:ext>
                </a:extLst>
              </a:tr>
              <a:tr h="757701">
                <a:tc>
                  <a:txBody>
                    <a:bodyPr/>
                    <a:lstStyle/>
                    <a:p>
                      <a:r>
                        <a:rPr lang="en-IN" b="1" dirty="0"/>
                        <a:t>Machine Learning Pipeline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667304"/>
                  </a:ext>
                </a:extLst>
              </a:tr>
            </a:tbl>
          </a:graphicData>
        </a:graphic>
      </p:graphicFrame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92468601-4E20-11BD-2570-C96C5B1EC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5921" y="4943852"/>
            <a:ext cx="457200" cy="4572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78FB0684-5D19-C3EC-CD7E-7E803C423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3274" y="2673894"/>
            <a:ext cx="457200" cy="4572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E6A54D4A-53DE-935C-38AE-7C500730F2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0382" y="2673894"/>
            <a:ext cx="585539" cy="480702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D4FB43FE-02B8-EB04-F329-4BCBBFA07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7735" y="3486556"/>
            <a:ext cx="585539" cy="480702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F100414-7AB6-ECE1-59B2-80640A08B1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7735" y="4322720"/>
            <a:ext cx="585539" cy="480702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E5DC4B79-4259-EF23-87D6-F200D471F7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7734" y="5749546"/>
            <a:ext cx="585539" cy="48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963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162</TotalTime>
  <Words>161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Rockwell</vt:lpstr>
      <vt:lpstr>Tahoma</vt:lpstr>
      <vt:lpstr>Tw Cen MT</vt:lpstr>
      <vt:lpstr>Circuit</vt:lpstr>
      <vt:lpstr>Name – Aditya kohli 1CSE26</vt:lpstr>
      <vt:lpstr>Unit 1</vt:lpstr>
      <vt:lpstr>Unit 2</vt:lpstr>
      <vt:lpstr>Unit 3</vt:lpstr>
      <vt:lpstr>Unit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Kohli</dc:creator>
  <cp:lastModifiedBy>Aditya Kohli</cp:lastModifiedBy>
  <cp:revision>1</cp:revision>
  <dcterms:created xsi:type="dcterms:W3CDTF">2025-09-26T14:51:51Z</dcterms:created>
  <dcterms:modified xsi:type="dcterms:W3CDTF">2025-09-26T17:34:04Z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